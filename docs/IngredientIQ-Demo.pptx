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image" Target="../media/image-12-5.png"/><Relationship Id="rId8" Type="http://schemas.openxmlformats.org/officeDocument/2006/relationships/image" Target="../media/image-12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2148840"/>
            <a:ext cx="2560320" cy="25603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" name="Image 0" descr="icon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1005" y="2507285"/>
            <a:ext cx="1843430" cy="1843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IngredientIQ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ingredient safety warnings, built into how you already log food.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trackers count calories. They don't tell you what's actually in your food.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566928" cy="566928"/>
          </a:xfrm>
          <a:prstGeom prst="ellipse">
            <a:avLst/>
          </a:prstGeom>
          <a:solidFill>
            <a:srgbClr val="E24B4A"/>
          </a:solidFill>
          <a:ln/>
        </p:spPr>
      </p:sp>
      <p:pic>
        <p:nvPicPr>
          <p:cNvPr id="5" name="Image 0" descr="icon-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0" y="2548250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7048" y="2432304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&amp; flagged substances hide behind brand names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27048" y="276148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FDA-revoked additives, ingredients under active regulatory review, and "secret GRAS" extracts don't show up on a nutrition-facts summary.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3886200"/>
            <a:ext cx="566928" cy="566928"/>
          </a:xfrm>
          <a:prstGeom prst="ellipse">
            <a:avLst/>
          </a:prstGeom>
          <a:solidFill>
            <a:srgbClr val="EF9F27"/>
          </a:solidFill>
          <a:ln/>
        </p:spPr>
      </p:sp>
      <p:pic>
        <p:nvPicPr>
          <p:cNvPr id="9" name="Image 1" descr="icon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90" y="3965570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3849624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Allergens surface after the food's already logged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27048" y="417880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you've searched and tapped "Add," you've already committed — there's no warning at the moment it matters.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5303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-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5382890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7048" y="5266944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 check safety without leaving the app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27048" y="559612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an ingredient list means switching apps, searching the web, and reading fine print — every single time.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ingredient risk exactly where food gets logged — not as a separate research step.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12405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320040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icon-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32900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4023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Inline, real-time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4480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appear the instant you type or scan — no extra step.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88036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12405A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320040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icon-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71" y="32900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4023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spectrum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4480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substances, Big 9 allergens, under-review dyes, secret GRAS.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88036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1240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320040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icon-ap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1" y="32900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4023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MacrosFirst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4480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the app already in daily use — not a generic tool.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pieces, one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3200400"/>
            <a:ext cx="640080" cy="640080"/>
          </a:xfrm>
          <a:prstGeom prst="ellipse">
            <a:avLst/>
          </a:prstGeom>
          <a:solidFill>
            <a:srgbClr val="0B2F42"/>
          </a:solidFill>
          <a:ln/>
        </p:spPr>
      </p:sp>
      <p:pic>
        <p:nvPicPr>
          <p:cNvPr id="6" name="Image 0" descr="icon-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32900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4023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Keyboard Extension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51560" y="4480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warning banner while typing directly in MacrosFirst.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88036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3200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-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71" y="32900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4023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09160" y="4480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analysis engine + barcode lookup cascade.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88036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3200400"/>
            <a:ext cx="640080" cy="640080"/>
          </a:xfrm>
          <a:prstGeom prst="ellipse">
            <a:avLst/>
          </a:prstGeom>
          <a:solidFill>
            <a:srgbClr val="0B2F42"/>
          </a:solidFill>
          <a:ln/>
        </p:spPr>
      </p:sp>
      <p:pic>
        <p:nvPicPr>
          <p:cNvPr id="16" name="Image 2" descr="icon-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1" y="32900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4023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Database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66760" y="4480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flagged ingredients across 186 specific products.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· KEYBOARD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a food name in MacrosFirst — get a live risk banner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3829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27685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Swift/UIKit custom keyboard — replaces the system keyboard while active inside any app, including MacrosFirst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4344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32841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against the bundled ingredient database — no network required to get a warning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31520" y="4434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44860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37997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on a real iPhone: typed "milk," "Doritos," and "Diet Coke" and confirmed correct flags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040880" y="2011680"/>
            <a:ext cx="4389120" cy="3566160"/>
          </a:xfrm>
          <a:prstGeom prst="roundRect">
            <a:avLst>
              <a:gd name="adj" fmla="val 7179"/>
            </a:avLst>
          </a:prstGeom>
          <a:solidFill>
            <a:srgbClr val="081F2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269480" y="246888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12405A"/>
          </a:solidFill>
          <a:ln/>
        </p:spPr>
      </p:sp>
      <p:sp>
        <p:nvSpPr>
          <p:cNvPr id="15" name="Shape 10"/>
          <p:cNvSpPr/>
          <p:nvPr/>
        </p:nvSpPr>
        <p:spPr>
          <a:xfrm>
            <a:off x="7498080" y="2724912"/>
            <a:ext cx="164592" cy="164592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6" name="Text 11"/>
          <p:cNvSpPr/>
          <p:nvPr/>
        </p:nvSpPr>
        <p:spPr>
          <a:xfrm>
            <a:off x="777240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flags · 67/100 High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7724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Soybeans, Sucralose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26948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19" name="Shape 14"/>
          <p:cNvSpPr/>
          <p:nvPr/>
        </p:nvSpPr>
        <p:spPr>
          <a:xfrm>
            <a:off x="776097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0" name="Shape 15"/>
          <p:cNvSpPr/>
          <p:nvPr/>
        </p:nvSpPr>
        <p:spPr>
          <a:xfrm>
            <a:off x="825246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1" name="Shape 16"/>
          <p:cNvSpPr/>
          <p:nvPr/>
        </p:nvSpPr>
        <p:spPr>
          <a:xfrm>
            <a:off x="874395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2" name="Shape 17"/>
          <p:cNvSpPr/>
          <p:nvPr/>
        </p:nvSpPr>
        <p:spPr>
          <a:xfrm>
            <a:off x="923544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3" name="Shape 18"/>
          <p:cNvSpPr/>
          <p:nvPr/>
        </p:nvSpPr>
        <p:spPr>
          <a:xfrm>
            <a:off x="972693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4" name="Shape 19"/>
          <p:cNvSpPr/>
          <p:nvPr/>
        </p:nvSpPr>
        <p:spPr>
          <a:xfrm>
            <a:off x="1021842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5" name="Shape 20"/>
          <p:cNvSpPr/>
          <p:nvPr/>
        </p:nvSpPr>
        <p:spPr>
          <a:xfrm>
            <a:off x="10709910" y="34290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6" name="Shape 21"/>
          <p:cNvSpPr/>
          <p:nvPr/>
        </p:nvSpPr>
        <p:spPr>
          <a:xfrm>
            <a:off x="726948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7" name="Shape 22"/>
          <p:cNvSpPr/>
          <p:nvPr/>
        </p:nvSpPr>
        <p:spPr>
          <a:xfrm>
            <a:off x="776097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8" name="Shape 23"/>
          <p:cNvSpPr/>
          <p:nvPr/>
        </p:nvSpPr>
        <p:spPr>
          <a:xfrm>
            <a:off x="825246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29" name="Shape 24"/>
          <p:cNvSpPr/>
          <p:nvPr/>
        </p:nvSpPr>
        <p:spPr>
          <a:xfrm>
            <a:off x="874395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0" name="Shape 25"/>
          <p:cNvSpPr/>
          <p:nvPr/>
        </p:nvSpPr>
        <p:spPr>
          <a:xfrm>
            <a:off x="923544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1" name="Shape 26"/>
          <p:cNvSpPr/>
          <p:nvPr/>
        </p:nvSpPr>
        <p:spPr>
          <a:xfrm>
            <a:off x="972693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2" name="Shape 27"/>
          <p:cNvSpPr/>
          <p:nvPr/>
        </p:nvSpPr>
        <p:spPr>
          <a:xfrm>
            <a:off x="1021842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3" name="Shape 28"/>
          <p:cNvSpPr/>
          <p:nvPr/>
        </p:nvSpPr>
        <p:spPr>
          <a:xfrm>
            <a:off x="10709910" y="38862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4" name="Shape 29"/>
          <p:cNvSpPr/>
          <p:nvPr/>
        </p:nvSpPr>
        <p:spPr>
          <a:xfrm>
            <a:off x="726948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5" name="Shape 30"/>
          <p:cNvSpPr/>
          <p:nvPr/>
        </p:nvSpPr>
        <p:spPr>
          <a:xfrm>
            <a:off x="776097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6" name="Shape 31"/>
          <p:cNvSpPr/>
          <p:nvPr/>
        </p:nvSpPr>
        <p:spPr>
          <a:xfrm>
            <a:off x="825246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7" name="Shape 32"/>
          <p:cNvSpPr/>
          <p:nvPr/>
        </p:nvSpPr>
        <p:spPr>
          <a:xfrm>
            <a:off x="874395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8" name="Shape 33"/>
          <p:cNvSpPr/>
          <p:nvPr/>
        </p:nvSpPr>
        <p:spPr>
          <a:xfrm>
            <a:off x="923544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39" name="Shape 34"/>
          <p:cNvSpPr/>
          <p:nvPr/>
        </p:nvSpPr>
        <p:spPr>
          <a:xfrm>
            <a:off x="972693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40" name="Shape 35"/>
          <p:cNvSpPr/>
          <p:nvPr/>
        </p:nvSpPr>
        <p:spPr>
          <a:xfrm>
            <a:off x="1021842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41" name="Shape 36"/>
          <p:cNvSpPr/>
          <p:nvPr/>
        </p:nvSpPr>
        <p:spPr>
          <a:xfrm>
            <a:off x="10709910" y="4343400"/>
            <a:ext cx="436626" cy="384048"/>
          </a:xfrm>
          <a:prstGeom prst="roundRect">
            <a:avLst>
              <a:gd name="adj" fmla="val 7143"/>
            </a:avLst>
          </a:prstGeom>
          <a:solidFill>
            <a:srgbClr val="173E52"/>
          </a:solidFill>
          <a:ln/>
        </p:spPr>
      </p:sp>
      <p:sp>
        <p:nvSpPr>
          <p:cNvPr id="42" name="Text 37"/>
          <p:cNvSpPr/>
          <p:nvPr/>
        </p:nvSpPr>
        <p:spPr>
          <a:xfrm>
            <a:off x="7269480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bar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· BARCODE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barcode scanning — but couldn't get it working end-to-end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957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camera scanning (built)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1635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BarcodeDetector API wired up with a manual-entry fallback — but never verified against a real camera.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EAF3F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3957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cascade (built)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81635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→ USDA FoodData Central → AI web-search fallback — logic works when called directly.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3957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before real 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816352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access needs HTTPS; our API only ran on localhost. Nothing a phone can actually reach today.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FBEAE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4709160"/>
            <a:ext cx="640080" cy="640080"/>
          </a:xfrm>
          <a:prstGeom prst="ellipse">
            <a:avLst/>
          </a:prstGeom>
          <a:solidFill>
            <a:srgbClr val="E24B4A"/>
          </a:solidFill>
          <a:ln/>
        </p:spPr>
      </p:sp>
      <p:pic>
        <p:nvPicPr>
          <p:cNvPr id="15" name="Image 0" descr="icon-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4798771"/>
            <a:ext cx="460858" cy="46085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74520" y="44714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access blocked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874520" y="48737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only grants camera permission in a secure context (HTTPS or localhost). Opening the raw file on an iPhone (file://) never even asks for camera access.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17920" y="425196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FBEAEA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0" y="4709160"/>
            <a:ext cx="640080" cy="640080"/>
          </a:xfrm>
          <a:prstGeom prst="ellipse">
            <a:avLst/>
          </a:prstGeom>
          <a:solidFill>
            <a:srgbClr val="E24B4A"/>
          </a:solidFill>
          <a:ln/>
        </p:spPr>
      </p:sp>
      <p:pic>
        <p:nvPicPr>
          <p:cNvPr id="20" name="Image 1" descr="icon-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4798771"/>
            <a:ext cx="460858" cy="46085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44714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unreachable from your phone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360920" y="48737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only ran on a local dev server. Without deploying it somewhere persistent, there's no address your iPhone can actually call day-to-day.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Coverage, by the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ingredients tracked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(banned, allergen, concern,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secret GRAS)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29768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products &amp; flavors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real ingredient lists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86384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tiers, matching FDA /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FSIS / EWG classifications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164592" cy="16459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617720"/>
            <a:ext cx="164592" cy="164592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4617720"/>
            <a:ext cx="164592" cy="164592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4617720"/>
            <a:ext cx="164592" cy="164592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4617720"/>
            <a:ext cx="164592" cy="16459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9" name="Text 17"/>
          <p:cNvSpPr/>
          <p:nvPr/>
        </p:nvSpPr>
        <p:spPr>
          <a:xfrm>
            <a:off x="8119872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GRAS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46920" y="4617720"/>
            <a:ext cx="164592" cy="16459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1" name="Text 19"/>
          <p:cNvSpPr/>
          <p:nvPr/>
        </p:nvSpPr>
        <p:spPr>
          <a:xfrm>
            <a:off x="9902952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2120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2405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Gatorade Fruit Punch </a:t>
            </a:r>
            <a:pPr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Gatorade Zero</a:t>
            </a:r>
            <a:pPr indent="0" marL="0">
              <a:buNone/>
            </a:pPr>
            <a:r>
              <a:rPr lang="en-US" sz="13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dye and sweetener are mapped per flavor, not just per brand.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Coverage, by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INGREDIENTS · 5 RISK TIERS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46304" cy="146304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74920" y="23042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24128" y="261518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No. 3, BVO, trans fat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74920" y="2962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24128" y="3273552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Peanuts, milk, tree nuts, shellfish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146304" cy="146304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74920" y="3621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24128" y="39319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BHA, aspartame, sucralose, MSG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398264"/>
            <a:ext cx="146304" cy="146304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74920" y="4279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24128" y="459028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40, Yellow 5, titanium dioxide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056632"/>
            <a:ext cx="146304" cy="146304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GRAS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074920" y="4937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24128" y="524865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 extract, aloe vera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920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PRODUCTS · 10 CATEGORIES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0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bars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58200" y="2404872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28" name="Shape 26"/>
          <p:cNvSpPr/>
          <p:nvPr/>
        </p:nvSpPr>
        <p:spPr>
          <a:xfrm>
            <a:off x="8458200" y="2404872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3928" y="23408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energy drinks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58200" y="2734056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458200" y="2734056"/>
            <a:ext cx="1791730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33" name="Text 31"/>
          <p:cNvSpPr/>
          <p:nvPr/>
        </p:nvSpPr>
        <p:spPr>
          <a:xfrm>
            <a:off x="10853928" y="2670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Sodas &amp; drinks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58200" y="3063240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36" name="Shape 34"/>
          <p:cNvSpPr/>
          <p:nvPr/>
        </p:nvSpPr>
        <p:spPr>
          <a:xfrm>
            <a:off x="8458200" y="3063240"/>
            <a:ext cx="1297459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37" name="Text 35"/>
          <p:cNvSpPr/>
          <p:nvPr/>
        </p:nvSpPr>
        <p:spPr>
          <a:xfrm>
            <a:off x="10853928" y="2999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35040" y="3328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&amp; salty snacks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58200" y="3392424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40" name="Shape 38"/>
          <p:cNvSpPr/>
          <p:nvPr/>
        </p:nvSpPr>
        <p:spPr>
          <a:xfrm>
            <a:off x="8458200" y="3392424"/>
            <a:ext cx="1297459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41" name="Text 39"/>
          <p:cNvSpPr/>
          <p:nvPr/>
        </p:nvSpPr>
        <p:spPr>
          <a:xfrm>
            <a:off x="10853928" y="3328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350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58200" y="3721608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44" name="Shape 42"/>
          <p:cNvSpPr/>
          <p:nvPr/>
        </p:nvSpPr>
        <p:spPr>
          <a:xfrm>
            <a:off x="8458200" y="3721608"/>
            <a:ext cx="1297459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45" name="Text 43"/>
          <p:cNvSpPr/>
          <p:nvPr/>
        </p:nvSpPr>
        <p:spPr>
          <a:xfrm>
            <a:off x="10853928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3504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meals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458200" y="4050792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48" name="Shape 46"/>
          <p:cNvSpPr/>
          <p:nvPr/>
        </p:nvSpPr>
        <p:spPr>
          <a:xfrm>
            <a:off x="8458200" y="4050792"/>
            <a:ext cx="988541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49" name="Text 47"/>
          <p:cNvSpPr/>
          <p:nvPr/>
        </p:nvSpPr>
        <p:spPr>
          <a:xfrm>
            <a:off x="10853928" y="3986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03504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meat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458200" y="4379976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52" name="Shape 50"/>
          <p:cNvSpPr/>
          <p:nvPr/>
        </p:nvSpPr>
        <p:spPr>
          <a:xfrm>
            <a:off x="8458200" y="4379976"/>
            <a:ext cx="926757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53" name="Text 51"/>
          <p:cNvSpPr/>
          <p:nvPr/>
        </p:nvSpPr>
        <p:spPr>
          <a:xfrm>
            <a:off x="10853928" y="4315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035040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56" name="Shape 54"/>
          <p:cNvSpPr/>
          <p:nvPr/>
        </p:nvSpPr>
        <p:spPr>
          <a:xfrm>
            <a:off x="8458200" y="4709160"/>
            <a:ext cx="679622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57" name="Text 55"/>
          <p:cNvSpPr/>
          <p:nvPr/>
        </p:nvSpPr>
        <p:spPr>
          <a:xfrm>
            <a:off x="10853928" y="4645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035040" y="4974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458200" y="5038344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60" name="Shape 58"/>
          <p:cNvSpPr/>
          <p:nvPr/>
        </p:nvSpPr>
        <p:spPr>
          <a:xfrm>
            <a:off x="8458200" y="5038344"/>
            <a:ext cx="494270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61" name="Text 59"/>
          <p:cNvSpPr/>
          <p:nvPr/>
        </p:nvSpPr>
        <p:spPr>
          <a:xfrm>
            <a:off x="10853928" y="49743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035040" y="5303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&amp; baked goods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458200" y="5367528"/>
            <a:ext cx="2286000" cy="146304"/>
          </a:xfrm>
          <a:prstGeom prst="roundRect">
            <a:avLst>
              <a:gd name="adj" fmla="val 12500"/>
            </a:avLst>
          </a:prstGeom>
          <a:solidFill>
            <a:srgbClr val="EAF3F6"/>
          </a:solidFill>
          <a:ln/>
        </p:spPr>
      </p:sp>
      <p:sp>
        <p:nvSpPr>
          <p:cNvPr id="64" name="Shape 62"/>
          <p:cNvSpPr/>
          <p:nvPr/>
        </p:nvSpPr>
        <p:spPr>
          <a:xfrm>
            <a:off x="8458200" y="5367528"/>
            <a:ext cx="432486" cy="146304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/>
        </p:spPr>
      </p:sp>
      <p:sp>
        <p:nvSpPr>
          <p:cNvPr id="65" name="Text 63"/>
          <p:cNvSpPr/>
          <p:nvPr/>
        </p:nvSpPr>
        <p:spPr>
          <a:xfrm>
            <a:off x="10853928" y="5303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1520" y="5943600"/>
            <a:ext cx="10607040" cy="530352"/>
          </a:xfrm>
          <a:prstGeom prst="roundRect">
            <a:avLst>
              <a:gd name="adj" fmla="val 12069"/>
            </a:avLst>
          </a:prstGeom>
          <a:solidFill>
            <a:srgbClr val="EAF3F6"/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" y="594360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Flavor-aware, not just brand-aware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Gatorade Fruit Punch and Gatorade Zero resolve to different dye and sweetener lists, same as Quest Bar's dozen flavor variants.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risk score is calculated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37560" cy="2560320"/>
          </a:xfrm>
          <a:prstGeom prst="roundRect">
            <a:avLst>
              <a:gd name="adj" fmla="val 2857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03120"/>
            <a:ext cx="365760" cy="365760"/>
          </a:xfrm>
          <a:prstGeom prst="ellipse">
            <a:avLst/>
          </a:prstGeom>
          <a:solidFill>
            <a:srgbClr val="0B2F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match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2679192"/>
            <a:ext cx="118872" cy="11887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9" name="Text 7"/>
          <p:cNvSpPr/>
          <p:nvPr/>
        </p:nvSpPr>
        <p:spPr>
          <a:xfrm>
            <a:off x="1216152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2926080"/>
            <a:ext cx="118872" cy="118872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1216152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2807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3172968"/>
            <a:ext cx="118872" cy="118872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152" y="30540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29000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3419856"/>
            <a:ext cx="118872" cy="118872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18" name="Text 16"/>
          <p:cNvSpPr/>
          <p:nvPr/>
        </p:nvSpPr>
        <p:spPr>
          <a:xfrm>
            <a:off x="1216152" y="33009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33009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3666744"/>
            <a:ext cx="118872" cy="118872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1" name="Text 19"/>
          <p:cNvSpPr/>
          <p:nvPr/>
        </p:nvSpPr>
        <p:spPr>
          <a:xfrm>
            <a:off x="1216152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GRAS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29000" y="3547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3913632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4" name="Text 22"/>
          <p:cNvSpPr/>
          <p:nvPr/>
        </p:nvSpPr>
        <p:spPr>
          <a:xfrm>
            <a:off x="1216152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2900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1828800"/>
            <a:ext cx="3337560" cy="2560320"/>
          </a:xfrm>
          <a:prstGeom prst="roundRect">
            <a:avLst>
              <a:gd name="adj" fmla="val 2857"/>
            </a:avLst>
          </a:prstGeom>
          <a:solidFill>
            <a:srgbClr val="EAF3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2103120"/>
            <a:ext cx="365760" cy="365760"/>
          </a:xfrm>
          <a:prstGeom prst="ellipse">
            <a:avLst/>
          </a:prstGeom>
          <a:solidFill>
            <a:srgbClr val="0B2F42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663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then adjust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63440" y="2697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 average of matched weights 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63440" y="3026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3440" y="328269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match is Banned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35387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63440" y="37947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match is your allergen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40507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100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46720" y="1828800"/>
            <a:ext cx="3337560" cy="2560320"/>
          </a:xfrm>
          <a:prstGeom prst="roundRect">
            <a:avLst>
              <a:gd name="adj" fmla="val 2857"/>
            </a:avLst>
          </a:prstGeom>
          <a:solidFill>
            <a:srgbClr val="EAF3F6"/>
          </a:solidFill>
          <a:ln/>
        </p:spPr>
      </p:sp>
      <p:sp>
        <p:nvSpPr>
          <p:cNvPr id="37" name="Shape 35"/>
          <p:cNvSpPr/>
          <p:nvPr/>
        </p:nvSpPr>
        <p:spPr>
          <a:xfrm>
            <a:off x="8321040" y="2103120"/>
            <a:ext cx="365760" cy="365760"/>
          </a:xfrm>
          <a:prstGeom prst="ellipse">
            <a:avLst/>
          </a:prstGeom>
          <a:solidFill>
            <a:srgbClr val="0B2F42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239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a label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321040" y="267004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34C759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2578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7844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1040" y="299008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378ADD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2898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378440" y="2898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16–35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21040" y="331012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BA7517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3784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36–60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1040" y="363016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EF9F27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0" y="3538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378440" y="3538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61–80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21040" y="3950208"/>
            <a:ext cx="256032" cy="146304"/>
          </a:xfrm>
          <a:prstGeom prst="roundRect">
            <a:avLst>
              <a:gd name="adj" fmla="val 18750"/>
            </a:avLst>
          </a:prstGeom>
          <a:solidFill>
            <a:srgbClr val="E24B4A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378440" y="3858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81–100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LIVE DATABASE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31520" y="5010912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60120" y="51572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“vitamin water zero”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960120" y="5413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matches, averaged: (60+60)/2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60120" y="5797296"/>
            <a:ext cx="4663440" cy="128016"/>
          </a:xfrm>
          <a:prstGeom prst="roundRect">
            <a:avLst>
              <a:gd name="adj" fmla="val 14286"/>
            </a:avLst>
          </a:prstGeom>
          <a:solidFill>
            <a:srgbClr val="EAF3F6"/>
          </a:solidFill>
          <a:ln/>
        </p:spPr>
      </p:sp>
      <p:sp>
        <p:nvSpPr>
          <p:cNvPr id="60" name="Shape 58"/>
          <p:cNvSpPr/>
          <p:nvPr/>
        </p:nvSpPr>
        <p:spPr>
          <a:xfrm>
            <a:off x="960120" y="5797296"/>
            <a:ext cx="2798064" cy="128016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/>
        </p:spPr>
      </p:sp>
      <p:sp>
        <p:nvSpPr>
          <p:cNvPr id="61" name="Text 59"/>
          <p:cNvSpPr/>
          <p:nvPr/>
        </p:nvSpPr>
        <p:spPr>
          <a:xfrm>
            <a:off x="960120" y="5971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60/100 · Moderate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17920" y="5010912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46520" y="51572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“quest bar”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446520" y="5413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matches, averaged: (80+80+60+60+40)/5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46520" y="5797296"/>
            <a:ext cx="4663440" cy="128016"/>
          </a:xfrm>
          <a:prstGeom prst="roundRect">
            <a:avLst>
              <a:gd name="adj" fmla="val 14286"/>
            </a:avLst>
          </a:prstGeom>
          <a:solidFill>
            <a:srgbClr val="EAF3F6"/>
          </a:solidFill>
          <a:ln/>
        </p:spPr>
      </p:sp>
      <p:sp>
        <p:nvSpPr>
          <p:cNvPr id="66" name="Shape 64"/>
          <p:cNvSpPr/>
          <p:nvPr/>
        </p:nvSpPr>
        <p:spPr>
          <a:xfrm>
            <a:off x="6446520" y="5797296"/>
            <a:ext cx="2984602" cy="128016"/>
          </a:xfrm>
          <a:prstGeom prst="roundRect">
            <a:avLst>
              <a:gd name="adj" fmla="val 14286"/>
            </a:avLst>
          </a:prstGeom>
          <a:solidFill>
            <a:srgbClr val="EF9F27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5971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64/100 · High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friction, worked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66928" cy="566928"/>
          </a:xfrm>
          <a:prstGeom prst="ellipse">
            <a:avLst/>
          </a:prstGeom>
          <a:solidFill>
            <a:srgbClr val="E24B4A"/>
          </a:solidFill>
          <a:ln/>
        </p:spPr>
      </p:sp>
      <p:pic>
        <p:nvPicPr>
          <p:cNvPr id="5" name="Image 0" descr="icon-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0" y="2411090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7048" y="2295144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zero-database bug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27048" y="262432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bundled ingredients.json had a schema mismatch — the app was quietly running with zero ingredients loaded and no error shown. Root-caused by compiling the matching logic standalone and testing it directly against the actual bundled file.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3703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-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90" y="3782690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3666744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iOS setup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27048" y="399592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Groups, per-target file membership, and Info.plist entitlements all had to be wired by hand across two build targets (container app + keyboard extension) in Xcode.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5074920"/>
            <a:ext cx="566928" cy="566928"/>
          </a:xfrm>
          <a:prstGeom prst="ellipse">
            <a:avLst/>
          </a:prstGeom>
          <a:solidFill>
            <a:srgbClr val="0B2F42"/>
          </a:solidFill>
          <a:ln/>
        </p:spPr>
      </p:sp>
      <p:pic>
        <p:nvPicPr>
          <p:cNvPr id="13" name="Image 2" descr="icon-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5154290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7048" y="5038344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Real-device provisioning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27048" y="536752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vs. destination mixups, trust dialogs, and first-run code-signing friction before the extension could run on a physical iPhone.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EXPLORED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tried before landing on the keyboard extension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223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Chrome extension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</a:rPr>
                        <a:t>Works only for MacrosFirst's web app — not the native iOS app most people use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Camera interception inside MacrosFirst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</a:rPr>
                        <a:t>Not possible — iOS sandboxes apps from each other. Would require jailbreaking and hooking a third-party binary. Ruled out.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Siri Shortcuts “Barcode Scan” action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</a:rPr>
                        <a:t>Built and tested live — confirmed it's a one-way launch into MacrosFirst's own screen, with no data handed back to intercept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MacrosFirst partner API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</a:rPr>
                        <a:t>Real and exists — requires direct approval from MacrosFirst. Open path for a future “warn after logging” flow.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verified system — with a clear map of 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92608" cy="292608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6" name="Image 0" descr="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2647005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542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extension verified live on a real iPhone inside MacrosFirst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3264408"/>
            <a:ext cx="292608" cy="292608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9" name="Image 1" descr="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5" y="3305373"/>
            <a:ext cx="210678" cy="2106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barcode-lookup logic verified against real Open Food Facts data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3922776"/>
            <a:ext cx="292608" cy="292608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12" name="Image 2" descr="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963741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8587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186-product database with brand- and flavor-level accuracy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" y="4581144"/>
            <a:ext cx="292608" cy="292608"/>
          </a:xfrm>
          <a:prstGeom prst="ellipse">
            <a:avLst/>
          </a:prstGeom>
          <a:solidFill>
            <a:srgbClr val="34C759"/>
          </a:solidFill>
          <a:ln/>
        </p:spPr>
      </p:sp>
      <p:pic>
        <p:nvPicPr>
          <p:cNvPr id="15" name="Image 3" descr="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5" y="4622109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5171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and fixed a critical silent-failure bug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40080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00800" y="2606040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9" name="Image 4" descr="icon-mag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765" y="2647005"/>
            <a:ext cx="210678" cy="2106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12280" y="2542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Mobile PWA with real camera barcode scanning on-device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0" y="3264408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2" name="Image 5" descr="icon-mag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765" y="3305373"/>
            <a:ext cx="210678" cy="21067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1228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backend beyond localhost so a phone can reach it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6400800" y="3922776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5" name="Image 6" descr="icon-mag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765" y="3963741"/>
            <a:ext cx="210678" cy="21067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12280" y="38587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MacrosFirst partner API access for after-the-fact log alerts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400800" y="4581144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8" name="Image 7" descr="icon-mag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765" y="4622109"/>
            <a:ext cx="210678" cy="21067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12280" y="45171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expanding flavor-level product coverage</a:t>
            </a:r>
            <a:endParaRPr lang="en-US" sz="1250" dirty="0"/>
          </a:p>
        </p:txBody>
      </p:sp>
      <p:sp>
        <p:nvSpPr>
          <p:cNvPr id="30" name="Text 20"/>
          <p:cNvSpPr/>
          <p:nvPr/>
        </p:nvSpPr>
        <p:spPr>
          <a:xfrm>
            <a:off x="73152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IngredientIQ — Team Demo</dc:title>
  <dc:subject>PptxGenJS Presentation</dc:subject>
  <dc:creator>IngredientIQ</dc:creator>
  <cp:lastModifiedBy>IngredientIQ</cp:lastModifiedBy>
  <cp:revision>1</cp:revision>
  <dcterms:created xsi:type="dcterms:W3CDTF">2026-07-10T22:30:53Z</dcterms:created>
  <dcterms:modified xsi:type="dcterms:W3CDTF">2026-07-10T22:30:53Z</dcterms:modified>
</cp:coreProperties>
</file>