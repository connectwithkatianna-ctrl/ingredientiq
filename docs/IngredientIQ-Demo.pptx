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image" Target="../media/image-12-5.png"/><Relationship Id="rId6" Type="http://schemas.openxmlformats.org/officeDocument/2006/relationships/image" Target="../media/image-12-5.png"/><Relationship Id="rId7" Type="http://schemas.openxmlformats.org/officeDocument/2006/relationships/image" Target="../media/image-12-5.png"/><Relationship Id="rId8" Type="http://schemas.openxmlformats.org/officeDocument/2006/relationships/image" Target="../media/image-12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2148840"/>
            <a:ext cx="2560320" cy="256032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3" name="Image 0" descr="icon-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005" y="2507285"/>
            <a:ext cx="1843430" cy="18434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317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IngredientIQ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34290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ingredient safety warnings, built into how you already log food.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31520" y="6035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DEMO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trackers count calories. They don't tell you what's actually in your food.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566928" cy="566928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5" name="Image 0" descr="icon-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0" y="2548250"/>
            <a:ext cx="408188" cy="4081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243230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&amp; flagged substances hide behind brand names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27048" y="276148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FDA-revoked additives, ingredients under active regulatory review, and "secret GRAS" extracts don't show up on a nutrition-facts summary.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EF9F27"/>
          </a:solidFill>
          <a:ln/>
        </p:spPr>
      </p:sp>
      <p:pic>
        <p:nvPicPr>
          <p:cNvPr id="9" name="Image 1" descr="icon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90" y="396557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384962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Allergens surface after the food's already logged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27048" y="417880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you've searched and tapped "Add," you've already committed — there's no warning at the moment it matters.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530352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icon-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0" y="53828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52669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 way to check safety without leaving the app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27048" y="55961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Researching an ingredient list means switching apps, searching the web, and reading fine print — every single time.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ingredient risk exactly where food gets logged — not as a separate research step.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icon-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71" y="32900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Inline, real-time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515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appear the instant you type or scan — no extra step.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10" name="Shape 7"/>
          <p:cNvSpPr/>
          <p:nvPr/>
        </p:nvSpPr>
        <p:spPr>
          <a:xfrm>
            <a:off x="47091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icon-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71" y="32900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risk spectrum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091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substances, Big 9 allergens, under-review dyes, secret GRAS.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12405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66760" y="3200400"/>
            <a:ext cx="640080" cy="64008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6" name="Image 2" descr="icon-ap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371" y="32900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MacrosFirst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667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around the app already in daily use — not a generic tool.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goal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3200400"/>
            <a:ext cx="640080" cy="640080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6" name="Image 0" descr="icon-key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71" y="32900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Keyboard Extension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0515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warning banner while typing directly in MacrosFirst.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32004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icon-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71" y="32900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7091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analysis engine + barcode lookup cascade.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880360"/>
            <a:ext cx="3337560" cy="2743200"/>
          </a:xfrm>
          <a:prstGeom prst="roundRect">
            <a:avLst>
              <a:gd name="adj" fmla="val 2667"/>
            </a:avLst>
          </a:prstGeom>
          <a:solidFill>
            <a:srgbClr val="EAF3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3200400"/>
            <a:ext cx="640080" cy="640080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16" name="Image 2" descr="icon-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371" y="32900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023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 Database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66760" y="44805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flagged ingredients across 186 specific products.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· KEYBOARD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a food name in MacrosFirst — get a live risk banner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icon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2382926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27685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Swift/UIKit custom keyboard — replaces the system keyboard while active inside any app, including MacrosFirst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" y="338328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" y="3434486"/>
            <a:ext cx="263347" cy="2633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332841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 against the bundled ingredient database — no network required to get a warning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31520" y="443484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2" descr="icon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448604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437997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end-to-end on a real iPhone: typed "milk," "Doritos," and "Diet Coke" and confirmed correct flags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040880" y="2011680"/>
            <a:ext cx="4389120" cy="3566160"/>
          </a:xfrm>
          <a:prstGeom prst="roundRect">
            <a:avLst>
              <a:gd name="adj" fmla="val 7179"/>
            </a:avLst>
          </a:prstGeom>
          <a:solidFill>
            <a:srgbClr val="081F2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269480" y="2468880"/>
            <a:ext cx="3931920" cy="685800"/>
          </a:xfrm>
          <a:prstGeom prst="roundRect">
            <a:avLst>
              <a:gd name="adj" fmla="val 8000"/>
            </a:avLst>
          </a:prstGeom>
          <a:solidFill>
            <a:srgbClr val="12405A"/>
          </a:solidFill>
          <a:ln/>
        </p:spPr>
      </p:sp>
      <p:sp>
        <p:nvSpPr>
          <p:cNvPr id="15" name="Shape 10"/>
          <p:cNvSpPr/>
          <p:nvPr/>
        </p:nvSpPr>
        <p:spPr>
          <a:xfrm>
            <a:off x="7498080" y="2724912"/>
            <a:ext cx="164592" cy="164592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6" name="Text 11"/>
          <p:cNvSpPr/>
          <p:nvPr/>
        </p:nvSpPr>
        <p:spPr>
          <a:xfrm>
            <a:off x="7772400" y="2542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flags · 67/100 High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777240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Milk, Soybeans, Sucralose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26948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19" name="Shape 14"/>
          <p:cNvSpPr/>
          <p:nvPr/>
        </p:nvSpPr>
        <p:spPr>
          <a:xfrm>
            <a:off x="776097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0" name="Shape 15"/>
          <p:cNvSpPr/>
          <p:nvPr/>
        </p:nvSpPr>
        <p:spPr>
          <a:xfrm>
            <a:off x="825246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1" name="Shape 16"/>
          <p:cNvSpPr/>
          <p:nvPr/>
        </p:nvSpPr>
        <p:spPr>
          <a:xfrm>
            <a:off x="874395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2" name="Shape 17"/>
          <p:cNvSpPr/>
          <p:nvPr/>
        </p:nvSpPr>
        <p:spPr>
          <a:xfrm>
            <a:off x="923544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3" name="Shape 18"/>
          <p:cNvSpPr/>
          <p:nvPr/>
        </p:nvSpPr>
        <p:spPr>
          <a:xfrm>
            <a:off x="972693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4" name="Shape 19"/>
          <p:cNvSpPr/>
          <p:nvPr/>
        </p:nvSpPr>
        <p:spPr>
          <a:xfrm>
            <a:off x="1021842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5" name="Shape 20"/>
          <p:cNvSpPr/>
          <p:nvPr/>
        </p:nvSpPr>
        <p:spPr>
          <a:xfrm>
            <a:off x="10709910" y="34290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6" name="Shape 21"/>
          <p:cNvSpPr/>
          <p:nvPr/>
        </p:nvSpPr>
        <p:spPr>
          <a:xfrm>
            <a:off x="726948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097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8" name="Shape 23"/>
          <p:cNvSpPr/>
          <p:nvPr/>
        </p:nvSpPr>
        <p:spPr>
          <a:xfrm>
            <a:off x="825246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29" name="Shape 24"/>
          <p:cNvSpPr/>
          <p:nvPr/>
        </p:nvSpPr>
        <p:spPr>
          <a:xfrm>
            <a:off x="874395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0" name="Shape 25"/>
          <p:cNvSpPr/>
          <p:nvPr/>
        </p:nvSpPr>
        <p:spPr>
          <a:xfrm>
            <a:off x="923544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1" name="Shape 26"/>
          <p:cNvSpPr/>
          <p:nvPr/>
        </p:nvSpPr>
        <p:spPr>
          <a:xfrm>
            <a:off x="972693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2" name="Shape 27"/>
          <p:cNvSpPr/>
          <p:nvPr/>
        </p:nvSpPr>
        <p:spPr>
          <a:xfrm>
            <a:off x="1021842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3" name="Shape 28"/>
          <p:cNvSpPr/>
          <p:nvPr/>
        </p:nvSpPr>
        <p:spPr>
          <a:xfrm>
            <a:off x="10709910" y="38862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4" name="Shape 29"/>
          <p:cNvSpPr/>
          <p:nvPr/>
        </p:nvSpPr>
        <p:spPr>
          <a:xfrm>
            <a:off x="726948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5" name="Shape 30"/>
          <p:cNvSpPr/>
          <p:nvPr/>
        </p:nvSpPr>
        <p:spPr>
          <a:xfrm>
            <a:off x="776097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6" name="Shape 31"/>
          <p:cNvSpPr/>
          <p:nvPr/>
        </p:nvSpPr>
        <p:spPr>
          <a:xfrm>
            <a:off x="825246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7" name="Shape 32"/>
          <p:cNvSpPr/>
          <p:nvPr/>
        </p:nvSpPr>
        <p:spPr>
          <a:xfrm>
            <a:off x="874395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8" name="Shape 33"/>
          <p:cNvSpPr/>
          <p:nvPr/>
        </p:nvSpPr>
        <p:spPr>
          <a:xfrm>
            <a:off x="923544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39" name="Shape 34"/>
          <p:cNvSpPr/>
          <p:nvPr/>
        </p:nvSpPr>
        <p:spPr>
          <a:xfrm>
            <a:off x="972693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0" name="Shape 35"/>
          <p:cNvSpPr/>
          <p:nvPr/>
        </p:nvSpPr>
        <p:spPr>
          <a:xfrm>
            <a:off x="1021842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1" name="Shape 36"/>
          <p:cNvSpPr/>
          <p:nvPr/>
        </p:nvSpPr>
        <p:spPr>
          <a:xfrm>
            <a:off x="10709910" y="4343400"/>
            <a:ext cx="436626" cy="384048"/>
          </a:xfrm>
          <a:prstGeom prst="roundRect">
            <a:avLst>
              <a:gd name="adj" fmla="val 7143"/>
            </a:avLst>
          </a:prstGeom>
          <a:solidFill>
            <a:srgbClr val="173E52"/>
          </a:solidFill>
          <a:ln/>
        </p:spPr>
      </p:sp>
      <p:sp>
        <p:nvSpPr>
          <p:cNvPr id="42" name="Text 37"/>
          <p:cNvSpPr/>
          <p:nvPr/>
        </p:nvSpPr>
        <p:spPr>
          <a:xfrm>
            <a:off x="7269480" y="20848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 bar</a:t>
            </a:r>
            <a:endParaRPr lang="en-US" sz="1400" dirty="0"/>
          </a:p>
        </p:txBody>
      </p:sp>
      <p:sp>
        <p:nvSpPr>
          <p:cNvPr id="43" name="Text 3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EXPLORED · BARCODE SCANNING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barcode scanning — but couldn't get it working end-to-end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EAF3F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camera scanning (built)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BarcodeDetector API wired up with a manual-entry fallback — but never verified against a real camera.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EAF3F6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cascade (built)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34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Food Facts → USDA FoodData Central → AI web-search fallback — logic works when called directly.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2194560"/>
            <a:ext cx="3337560" cy="1737360"/>
          </a:xfrm>
          <a:prstGeom prst="roundRect">
            <a:avLst>
              <a:gd name="adj" fmla="val 4211"/>
            </a:avLst>
          </a:prstGeom>
          <a:solidFill>
            <a:srgbClr val="FBEAEA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3957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before real use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0" y="2816352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access needs HTTPS; our API only ran on localhost. Nothing a phone can actually reach today.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51960"/>
            <a:ext cx="5120640" cy="1554480"/>
          </a:xfrm>
          <a:prstGeom prst="roundRect">
            <a:avLst>
              <a:gd name="adj" fmla="val 4118"/>
            </a:avLst>
          </a:prstGeom>
          <a:solidFill>
            <a:srgbClr val="FBEA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5840" y="4709160"/>
            <a:ext cx="640080" cy="640080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15" name="Image 0" descr="icon-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4798771"/>
            <a:ext cx="460858" cy="46085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874520" y="447141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access blocked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874520" y="487375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only grants camera permission in a secure context (HTTPS or localhost). Opening the raw file on an iPhone (file://) never even asks for camera access.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17920" y="4251960"/>
            <a:ext cx="5120640" cy="1554480"/>
          </a:xfrm>
          <a:prstGeom prst="roundRect">
            <a:avLst>
              <a:gd name="adj" fmla="val 4118"/>
            </a:avLst>
          </a:prstGeom>
          <a:solidFill>
            <a:srgbClr val="FBEAEA"/>
          </a:solidFill>
          <a:ln/>
        </p:spPr>
      </p:sp>
      <p:sp>
        <p:nvSpPr>
          <p:cNvPr id="19" name="Shape 16"/>
          <p:cNvSpPr/>
          <p:nvPr/>
        </p:nvSpPr>
        <p:spPr>
          <a:xfrm>
            <a:off x="6492240" y="4709160"/>
            <a:ext cx="640080" cy="640080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20" name="Image 1" descr="icon-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4798771"/>
            <a:ext cx="460858" cy="46085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60920" y="447141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unreachable from your phone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7360920" y="487375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only ran on a local dev server. Without deploying it somewhere persistent, there's no address your iPhone can actually call day-to-day.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Coverage, by the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ingredients tracked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(banned, allergen, concern,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secret GRAS)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29768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products &amp; flavors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real ingredient lists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6384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86384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tiers, matching FDA /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FSIS / EWG classifications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164592" cy="164592"/>
          </a:xfrm>
          <a:prstGeom prst="ellipse">
            <a:avLst/>
          </a:prstGeom>
          <a:solidFill>
            <a:srgbClr val="E24B4A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14600" y="4617720"/>
            <a:ext cx="164592" cy="164592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3" name="Text 11"/>
          <p:cNvSpPr/>
          <p:nvPr/>
        </p:nvSpPr>
        <p:spPr>
          <a:xfrm>
            <a:off x="277063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4617720"/>
            <a:ext cx="164592" cy="164592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4617720"/>
            <a:ext cx="164592" cy="164592"/>
          </a:xfrm>
          <a:prstGeom prst="ellipse">
            <a:avLst/>
          </a:prstGeom>
          <a:solidFill>
            <a:srgbClr val="378ADD"/>
          </a:solidFill>
          <a:ln/>
        </p:spPr>
      </p:sp>
      <p:sp>
        <p:nvSpPr>
          <p:cNvPr id="17" name="Text 15"/>
          <p:cNvSpPr/>
          <p:nvPr/>
        </p:nvSpPr>
        <p:spPr>
          <a:xfrm>
            <a:off x="633679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4617720"/>
            <a:ext cx="164592" cy="164592"/>
          </a:xfrm>
          <a:prstGeom prst="ellipse">
            <a:avLst/>
          </a:prstGeom>
          <a:solidFill>
            <a:srgbClr val="7F77DD"/>
          </a:solidFill>
          <a:ln/>
        </p:spPr>
      </p:sp>
      <p:sp>
        <p:nvSpPr>
          <p:cNvPr id="19" name="Text 17"/>
          <p:cNvSpPr/>
          <p:nvPr/>
        </p:nvSpPr>
        <p:spPr>
          <a:xfrm>
            <a:off x="811987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GRAS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46920" y="4617720"/>
            <a:ext cx="164592" cy="164592"/>
          </a:xfrm>
          <a:prstGeom prst="ellipse">
            <a:avLst/>
          </a:prstGeom>
          <a:solidFill>
            <a:srgbClr val="34C759"/>
          </a:solidFill>
          <a:ln/>
        </p:spPr>
      </p:sp>
      <p:sp>
        <p:nvSpPr>
          <p:cNvPr id="21" name="Text 19"/>
          <p:cNvSpPr/>
          <p:nvPr/>
        </p:nvSpPr>
        <p:spPr>
          <a:xfrm>
            <a:off x="9902952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52120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2405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Gatorade Fruit Punch </a:t>
            </a:r>
            <a:pPr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Gatorade Zero</a:t>
            </a:r>
            <a:pPr indent="0" marL="0">
              <a:buNone/>
            </a:pPr>
            <a:r>
              <a:rPr lang="en-US" sz="135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dye and sweetener are mapped per flavor, not just per brand.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Coverage, by category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INGREDIENTS · 5 RISK TIERS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2423160"/>
            <a:ext cx="146304" cy="146304"/>
          </a:xfrm>
          <a:prstGeom prst="ellipse">
            <a:avLst/>
          </a:prstGeom>
          <a:solidFill>
            <a:srgbClr val="E24B4A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074920" y="23042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24128" y="2615184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No. 3, BVO, trans fat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081528"/>
            <a:ext cx="146304" cy="146304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962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74920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24128" y="3273552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Peanuts, milk, tree nuts, shellfish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146304" cy="146304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621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074920" y="36210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24128" y="393192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BHA, aspartame, sucralose, MSG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398264"/>
            <a:ext cx="146304" cy="146304"/>
          </a:xfrm>
          <a:prstGeom prst="ellipse">
            <a:avLst/>
          </a:prstGeom>
          <a:solidFill>
            <a:srgbClr val="378ADD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review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074920" y="4279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24128" y="4590288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40, Yellow 5, titanium dioxide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5056632"/>
            <a:ext cx="146304" cy="146304"/>
          </a:xfrm>
          <a:prstGeom prst="ellipse">
            <a:avLst/>
          </a:prstGeom>
          <a:solidFill>
            <a:srgbClr val="7F77DD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GRAS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074920" y="4937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24128" y="5248656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tea extract, aloe vera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1920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 PRODUCTS · 10 CATEGORIES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035040" y="2340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bars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58200" y="2404872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28" name="Shape 26"/>
          <p:cNvSpPr/>
          <p:nvPr/>
        </p:nvSpPr>
        <p:spPr>
          <a:xfrm>
            <a:off x="8458200" y="2404872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29" name="Text 27"/>
          <p:cNvSpPr/>
          <p:nvPr/>
        </p:nvSpPr>
        <p:spPr>
          <a:xfrm>
            <a:off x="10853928" y="23408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35040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&amp; energy drinks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58200" y="2734056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32" name="Shape 30"/>
          <p:cNvSpPr/>
          <p:nvPr/>
        </p:nvSpPr>
        <p:spPr>
          <a:xfrm>
            <a:off x="8458200" y="2734056"/>
            <a:ext cx="1791730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33" name="Text 31"/>
          <p:cNvSpPr/>
          <p:nvPr/>
        </p:nvSpPr>
        <p:spPr>
          <a:xfrm>
            <a:off x="10853928" y="26700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35040" y="2999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Sodas &amp; drinks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58200" y="3063240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36" name="Shape 34"/>
          <p:cNvSpPr/>
          <p:nvPr/>
        </p:nvSpPr>
        <p:spPr>
          <a:xfrm>
            <a:off x="8458200" y="3063240"/>
            <a:ext cx="1297459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37" name="Text 35"/>
          <p:cNvSpPr/>
          <p:nvPr/>
        </p:nvSpPr>
        <p:spPr>
          <a:xfrm>
            <a:off x="10853928" y="2999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35040" y="33284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Chips &amp; salty snacks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458200" y="3392424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40" name="Shape 38"/>
          <p:cNvSpPr/>
          <p:nvPr/>
        </p:nvSpPr>
        <p:spPr>
          <a:xfrm>
            <a:off x="8458200" y="3392424"/>
            <a:ext cx="1297459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41" name="Text 39"/>
          <p:cNvSpPr/>
          <p:nvPr/>
        </p:nvSpPr>
        <p:spPr>
          <a:xfrm>
            <a:off x="10853928" y="33284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03504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458200" y="3721608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44" name="Shape 42"/>
          <p:cNvSpPr/>
          <p:nvPr/>
        </p:nvSpPr>
        <p:spPr>
          <a:xfrm>
            <a:off x="8458200" y="3721608"/>
            <a:ext cx="1297459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45" name="Text 43"/>
          <p:cNvSpPr/>
          <p:nvPr/>
        </p:nvSpPr>
        <p:spPr>
          <a:xfrm>
            <a:off x="10853928" y="3657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035040" y="3986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meals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458200" y="4050792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48" name="Shape 46"/>
          <p:cNvSpPr/>
          <p:nvPr/>
        </p:nvSpPr>
        <p:spPr>
          <a:xfrm>
            <a:off x="8458200" y="4050792"/>
            <a:ext cx="988541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49" name="Text 47"/>
          <p:cNvSpPr/>
          <p:nvPr/>
        </p:nvSpPr>
        <p:spPr>
          <a:xfrm>
            <a:off x="10853928" y="39867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035040" y="4315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meat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458200" y="4379976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52" name="Shape 50"/>
          <p:cNvSpPr/>
          <p:nvPr/>
        </p:nvSpPr>
        <p:spPr>
          <a:xfrm>
            <a:off x="8458200" y="4379976"/>
            <a:ext cx="926757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53" name="Text 51"/>
          <p:cNvSpPr/>
          <p:nvPr/>
        </p:nvSpPr>
        <p:spPr>
          <a:xfrm>
            <a:off x="10853928" y="43159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03504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Cereal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458200" y="4709160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56" name="Shape 54"/>
          <p:cNvSpPr/>
          <p:nvPr/>
        </p:nvSpPr>
        <p:spPr>
          <a:xfrm>
            <a:off x="8458200" y="4709160"/>
            <a:ext cx="679622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57" name="Text 55"/>
          <p:cNvSpPr/>
          <p:nvPr/>
        </p:nvSpPr>
        <p:spPr>
          <a:xfrm>
            <a:off x="10853928" y="46451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035040" y="49743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food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458200" y="5038344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60" name="Shape 58"/>
          <p:cNvSpPr/>
          <p:nvPr/>
        </p:nvSpPr>
        <p:spPr>
          <a:xfrm>
            <a:off x="8458200" y="5038344"/>
            <a:ext cx="494270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61" name="Text 59"/>
          <p:cNvSpPr/>
          <p:nvPr/>
        </p:nvSpPr>
        <p:spPr>
          <a:xfrm>
            <a:off x="10853928" y="49743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035040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&amp; baked goods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458200" y="5367528"/>
            <a:ext cx="2286000" cy="146304"/>
          </a:xfrm>
          <a:prstGeom prst="roundRect">
            <a:avLst>
              <a:gd name="adj" fmla="val 12500"/>
            </a:avLst>
          </a:prstGeom>
          <a:solidFill>
            <a:srgbClr val="EAF3F6"/>
          </a:solidFill>
          <a:ln/>
        </p:spPr>
      </p:sp>
      <p:sp>
        <p:nvSpPr>
          <p:cNvPr id="64" name="Shape 62"/>
          <p:cNvSpPr/>
          <p:nvPr/>
        </p:nvSpPr>
        <p:spPr>
          <a:xfrm>
            <a:off x="8458200" y="5367528"/>
            <a:ext cx="432486" cy="146304"/>
          </a:xfrm>
          <a:prstGeom prst="roundRect">
            <a:avLst>
              <a:gd name="adj" fmla="val 12500"/>
            </a:avLst>
          </a:prstGeom>
          <a:solidFill>
            <a:srgbClr val="F2994A"/>
          </a:solidFill>
          <a:ln/>
        </p:spPr>
      </p:sp>
      <p:sp>
        <p:nvSpPr>
          <p:cNvPr id="65" name="Text 63"/>
          <p:cNvSpPr/>
          <p:nvPr/>
        </p:nvSpPr>
        <p:spPr>
          <a:xfrm>
            <a:off x="10853928" y="5303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31520" y="5943600"/>
            <a:ext cx="10607040" cy="530352"/>
          </a:xfrm>
          <a:prstGeom prst="roundRect">
            <a:avLst>
              <a:gd name="adj" fmla="val 12069"/>
            </a:avLst>
          </a:prstGeom>
          <a:solidFill>
            <a:srgbClr val="EAF3F6"/>
          </a:solidFill>
          <a:ln/>
        </p:spPr>
      </p:sp>
      <p:sp>
        <p:nvSpPr>
          <p:cNvPr id="67" name="Text 65"/>
          <p:cNvSpPr/>
          <p:nvPr/>
        </p:nvSpPr>
        <p:spPr>
          <a:xfrm>
            <a:off x="1005840" y="5943600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Flavor-aware, not just brand-aware</a:t>
            </a:r>
            <a:pPr indent="0" marL="0"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Gatorade Fruit Punch and Gatorade Zero resolve to different dye and sweetener lists, same as Quest Bar's dozen flavor variants.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risk score is calculated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337560" cy="2560320"/>
          </a:xfrm>
          <a:prstGeom prst="roundRect">
            <a:avLst>
              <a:gd name="adj" fmla="val 2857"/>
            </a:avLst>
          </a:prstGeom>
          <a:solidFill>
            <a:srgbClr val="EAF3F6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103120"/>
            <a:ext cx="365760" cy="365760"/>
          </a:xfrm>
          <a:prstGeom prst="ellipse">
            <a:avLst/>
          </a:prstGeom>
          <a:solidFill>
            <a:srgbClr val="0B2F4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1031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each match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05840" y="2679192"/>
            <a:ext cx="118872" cy="118872"/>
          </a:xfrm>
          <a:prstGeom prst="ellipse">
            <a:avLst/>
          </a:prstGeom>
          <a:solidFill>
            <a:srgbClr val="E24B4A"/>
          </a:solidFill>
          <a:ln/>
        </p:spPr>
      </p:sp>
      <p:sp>
        <p:nvSpPr>
          <p:cNvPr id="9" name="Text 7"/>
          <p:cNvSpPr/>
          <p:nvPr/>
        </p:nvSpPr>
        <p:spPr>
          <a:xfrm>
            <a:off x="1216152" y="2560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29000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5840" y="2926080"/>
            <a:ext cx="118872" cy="118872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2" name="Text 10"/>
          <p:cNvSpPr/>
          <p:nvPr/>
        </p:nvSpPr>
        <p:spPr>
          <a:xfrm>
            <a:off x="1216152" y="28072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29000" y="2807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05840" y="3172968"/>
            <a:ext cx="118872" cy="118872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5" name="Text 13"/>
          <p:cNvSpPr/>
          <p:nvPr/>
        </p:nvSpPr>
        <p:spPr>
          <a:xfrm>
            <a:off x="1216152" y="30540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29000" y="3054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05840" y="3419856"/>
            <a:ext cx="118872" cy="118872"/>
          </a:xfrm>
          <a:prstGeom prst="ellipse">
            <a:avLst/>
          </a:prstGeom>
          <a:solidFill>
            <a:srgbClr val="378ADD"/>
          </a:solidFill>
          <a:ln/>
        </p:spPr>
      </p:sp>
      <p:sp>
        <p:nvSpPr>
          <p:cNvPr id="18" name="Text 16"/>
          <p:cNvSpPr/>
          <p:nvPr/>
        </p:nvSpPr>
        <p:spPr>
          <a:xfrm>
            <a:off x="1216152" y="33009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29000" y="33009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05840" y="3666744"/>
            <a:ext cx="118872" cy="118872"/>
          </a:xfrm>
          <a:prstGeom prst="ellipse">
            <a:avLst/>
          </a:prstGeom>
          <a:solidFill>
            <a:srgbClr val="7F77DD"/>
          </a:solidFill>
          <a:ln/>
        </p:spPr>
      </p:sp>
      <p:sp>
        <p:nvSpPr>
          <p:cNvPr id="21" name="Text 19"/>
          <p:cNvSpPr/>
          <p:nvPr/>
        </p:nvSpPr>
        <p:spPr>
          <a:xfrm>
            <a:off x="1216152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GRAS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429000" y="35478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05840" y="3913632"/>
            <a:ext cx="118872" cy="118872"/>
          </a:xfrm>
          <a:prstGeom prst="ellipse">
            <a:avLst/>
          </a:prstGeom>
          <a:solidFill>
            <a:srgbClr val="34C759"/>
          </a:solidFill>
          <a:ln/>
        </p:spPr>
      </p:sp>
      <p:sp>
        <p:nvSpPr>
          <p:cNvPr id="24" name="Text 22"/>
          <p:cNvSpPr/>
          <p:nvPr/>
        </p:nvSpPr>
        <p:spPr>
          <a:xfrm>
            <a:off x="1216152" y="37947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29000" y="3794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89120" y="1828800"/>
            <a:ext cx="3337560" cy="2560320"/>
          </a:xfrm>
          <a:prstGeom prst="roundRect">
            <a:avLst>
              <a:gd name="adj" fmla="val 2857"/>
            </a:avLst>
          </a:prstGeom>
          <a:solidFill>
            <a:srgbClr val="EAF3F6"/>
          </a:solidFill>
          <a:ln/>
        </p:spPr>
      </p:sp>
      <p:sp>
        <p:nvSpPr>
          <p:cNvPr id="27" name="Shape 25"/>
          <p:cNvSpPr/>
          <p:nvPr/>
        </p:nvSpPr>
        <p:spPr>
          <a:xfrm>
            <a:off x="4663440" y="2103120"/>
            <a:ext cx="365760" cy="365760"/>
          </a:xfrm>
          <a:prstGeom prst="ellipse">
            <a:avLst/>
          </a:prstGeom>
          <a:solidFill>
            <a:srgbClr val="0B2F42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166360" y="21031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Average, then adjust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663440" y="26974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round( average of matched weights 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63440" y="30266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+ 20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663440" y="3282696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match is Banned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663440" y="35387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663440" y="379476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match is your allergen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663440" y="40507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at 100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046720" y="1828800"/>
            <a:ext cx="3337560" cy="2560320"/>
          </a:xfrm>
          <a:prstGeom prst="roundRect">
            <a:avLst>
              <a:gd name="adj" fmla="val 2857"/>
            </a:avLst>
          </a:prstGeom>
          <a:solidFill>
            <a:srgbClr val="EAF3F6"/>
          </a:solidFill>
          <a:ln/>
        </p:spPr>
      </p:sp>
      <p:sp>
        <p:nvSpPr>
          <p:cNvPr id="37" name="Shape 35"/>
          <p:cNvSpPr/>
          <p:nvPr/>
        </p:nvSpPr>
        <p:spPr>
          <a:xfrm>
            <a:off x="8321040" y="2103120"/>
            <a:ext cx="365760" cy="365760"/>
          </a:xfrm>
          <a:prstGeom prst="ellipse">
            <a:avLst/>
          </a:prstGeom>
          <a:solidFill>
            <a:srgbClr val="0B2F42"/>
          </a:solidFill>
          <a:ln/>
        </p:spPr>
      </p:sp>
      <p:sp>
        <p:nvSpPr>
          <p:cNvPr id="38" name="Text 36"/>
          <p:cNvSpPr/>
          <p:nvPr/>
        </p:nvSpPr>
        <p:spPr>
          <a:xfrm>
            <a:off x="832104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823960" y="21031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a label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8321040" y="2670048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34C759"/>
          </a:solidFill>
          <a:ln/>
        </p:spPr>
      </p:sp>
      <p:sp>
        <p:nvSpPr>
          <p:cNvPr id="41" name="Text 39"/>
          <p:cNvSpPr/>
          <p:nvPr/>
        </p:nvSpPr>
        <p:spPr>
          <a:xfrm>
            <a:off x="8686800" y="25786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0378440" y="2578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21040" y="2990088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378ADD"/>
          </a:solidFill>
          <a:ln/>
        </p:spPr>
      </p:sp>
      <p:sp>
        <p:nvSpPr>
          <p:cNvPr id="44" name="Text 42"/>
          <p:cNvSpPr/>
          <p:nvPr/>
        </p:nvSpPr>
        <p:spPr>
          <a:xfrm>
            <a:off x="8686800" y="2898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378440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16–35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321040" y="3310128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BA7517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378440" y="3218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36–60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1040" y="3630168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EF9F27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3538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10378440" y="3538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61–80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321040" y="3950208"/>
            <a:ext cx="256032" cy="146304"/>
          </a:xfrm>
          <a:prstGeom prst="roundRect">
            <a:avLst>
              <a:gd name="adj" fmla="val 18750"/>
            </a:avLst>
          </a:prstGeom>
          <a:solidFill>
            <a:srgbClr val="E24B4A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0" y="3858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378440" y="385876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81–100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31520" y="46451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THE LIVE DATABASE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31520" y="5010912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960120" y="5157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“milk” — milk in your profile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960120" y="54132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match: Milk/dairy (80) + 15 personal-allergen bonus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60120" y="5797296"/>
            <a:ext cx="4663440" cy="128016"/>
          </a:xfrm>
          <a:prstGeom prst="roundRect">
            <a:avLst>
              <a:gd name="adj" fmla="val 14286"/>
            </a:avLst>
          </a:prstGeom>
          <a:solidFill>
            <a:srgbClr val="EAF3F6"/>
          </a:solidFill>
          <a:ln/>
        </p:spPr>
      </p:sp>
      <p:sp>
        <p:nvSpPr>
          <p:cNvPr id="60" name="Shape 58"/>
          <p:cNvSpPr/>
          <p:nvPr/>
        </p:nvSpPr>
        <p:spPr>
          <a:xfrm>
            <a:off x="960120" y="5797296"/>
            <a:ext cx="4430268" cy="128016"/>
          </a:xfrm>
          <a:prstGeom prst="roundRect">
            <a:avLst>
              <a:gd name="adj" fmla="val 14286"/>
            </a:avLst>
          </a:prstGeom>
          <a:solidFill>
            <a:srgbClr val="E24B4A"/>
          </a:solidFill>
          <a:ln/>
        </p:spPr>
      </p:sp>
      <p:sp>
        <p:nvSpPr>
          <p:cNvPr id="61" name="Text 59"/>
          <p:cNvSpPr/>
          <p:nvPr/>
        </p:nvSpPr>
        <p:spPr>
          <a:xfrm>
            <a:off x="960120" y="597103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95/100 · Critical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217920" y="5010912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446520" y="5157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“quest bar”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446520" y="54132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matches, averaged: (80+80+60+60+40)/5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446520" y="5797296"/>
            <a:ext cx="4663440" cy="128016"/>
          </a:xfrm>
          <a:prstGeom prst="roundRect">
            <a:avLst>
              <a:gd name="adj" fmla="val 14286"/>
            </a:avLst>
          </a:prstGeom>
          <a:solidFill>
            <a:srgbClr val="EAF3F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46520" y="5797296"/>
            <a:ext cx="2984602" cy="128016"/>
          </a:xfrm>
          <a:prstGeom prst="roundRect">
            <a:avLst>
              <a:gd name="adj" fmla="val 14286"/>
            </a:avLst>
          </a:prstGeom>
          <a:solidFill>
            <a:srgbClr val="EF9F27"/>
          </a:solidFill>
          <a:ln/>
        </p:spPr>
      </p:sp>
      <p:sp>
        <p:nvSpPr>
          <p:cNvPr id="67" name="Text 65"/>
          <p:cNvSpPr/>
          <p:nvPr/>
        </p:nvSpPr>
        <p:spPr>
          <a:xfrm>
            <a:off x="6446520" y="597103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64/100 · High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friction, worked through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66928" cy="566928"/>
          </a:xfrm>
          <a:prstGeom prst="ellipse">
            <a:avLst/>
          </a:prstGeom>
          <a:solidFill>
            <a:srgbClr val="E24B4A"/>
          </a:solidFill>
          <a:ln/>
        </p:spPr>
      </p:sp>
      <p:pic>
        <p:nvPicPr>
          <p:cNvPr id="5" name="Image 0" descr="icon-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0" y="2411090"/>
            <a:ext cx="408188" cy="4081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22951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zero-database bug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27048" y="26243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bundled ingredients.json had a schema mismatch — the app was quietly running with zero ingredients loaded and no error shown. Root-caused by compiling the matching logic standalone and testing it directly against the actual bundled file.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70332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icon-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90" y="378269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36667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Multi-target iOS setup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27048" y="39959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Groups, per-target file membership, and Info.plist entitlements all had to be wired by hand across two build targets (container app + keyboard extension) in Xcode.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5074920"/>
            <a:ext cx="566928" cy="566928"/>
          </a:xfrm>
          <a:prstGeom prst="ellipse">
            <a:avLst/>
          </a:prstGeom>
          <a:solidFill>
            <a:srgbClr val="0B2F42"/>
          </a:solidFill>
          <a:ln/>
        </p:spPr>
      </p:sp>
      <p:pic>
        <p:nvPicPr>
          <p:cNvPr id="13" name="Image 2" descr="icon-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0" y="51542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5038344"/>
            <a:ext cx="9811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Real-device provisioning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27048" y="5367528"/>
            <a:ext cx="9811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vs. destination mixups, trust dialogs, and first-run code-signing friction before the extension could run on a physical iPhone.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EXPLORED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F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tried before landing on the keyboard extension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106070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F4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Chrome extension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Works only for MacrosFirst's web app — not the native iOS app most people use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Camera interception inside MacrosFirst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Not possible — iOS sandboxes apps from each other. Would require jailbreaking and hooking a third-party binary. Ruled out.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Siri Shortcuts “Barcode Scan” action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Built and tested live — confirmed it's a one-way launch into MacrosFirst's own screen, with no data handed back to intercept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MacrosFirst partner API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9"/>
                          </a:solidFill>
                        </a:rPr>
                        <a:t>Real and exists — requires direct approval from MacrosFirst. Open path for a future “warn after logging” flow.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F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working, verified system — with a clear map of 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C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6" name="Image 0" descr="icon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2647005"/>
            <a:ext cx="210678" cy="2106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25420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extension verified live on a real iPhone inside MacrosFirst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9" name="Image 1" descr="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5" y="3305373"/>
            <a:ext cx="210678" cy="2106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barcode-lookup logic verified against real Open Food Facts data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31520" y="3922776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12" name="Image 2" descr="icon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3963741"/>
            <a:ext cx="210678" cy="21067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38587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186-product database with brand- and flavor-level accuracy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31520" y="4581144"/>
            <a:ext cx="292608" cy="292608"/>
          </a:xfrm>
          <a:prstGeom prst="ellipse">
            <a:avLst/>
          </a:prstGeom>
          <a:solidFill>
            <a:srgbClr val="34C759"/>
          </a:solidFill>
          <a:ln/>
        </p:spPr>
      </p:sp>
      <p:pic>
        <p:nvPicPr>
          <p:cNvPr id="15" name="Image 3" descr="icon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485" y="4622109"/>
            <a:ext cx="210678" cy="21067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43000" y="45171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Root-caused and fixed a critical silent-failure bug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640080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400800" y="2606040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9" name="Image 4" descr="icon-magi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765" y="2647005"/>
            <a:ext cx="210678" cy="2106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812280" y="25420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Mobile PWA with real camera barcode scanning on-device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0" y="3264408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2" name="Image 5" descr="icon-ma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765" y="3305373"/>
            <a:ext cx="210678" cy="21067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812280" y="3200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backend beyond localhost so a phone can reach it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6400800" y="3922776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5" name="Image 6" descr="icon-magi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765" y="3963741"/>
            <a:ext cx="210678" cy="21067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812280" y="38587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Pursue MacrosFirst partner API access for after-the-fact log alerts</a:t>
            </a:r>
            <a:endParaRPr lang="en-US" sz="1250" dirty="0"/>
          </a:p>
        </p:txBody>
      </p:sp>
      <p:sp>
        <p:nvSpPr>
          <p:cNvPr id="27" name="Shape 18"/>
          <p:cNvSpPr/>
          <p:nvPr/>
        </p:nvSpPr>
        <p:spPr>
          <a:xfrm>
            <a:off x="6400800" y="4581144"/>
            <a:ext cx="292608" cy="29260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28" name="Image 7" descr="icon-magi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1765" y="4622109"/>
            <a:ext cx="210678" cy="21067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6812280" y="45171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2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expanding flavor-level product coverage</a:t>
            </a:r>
            <a:endParaRPr lang="en-US" sz="1250" dirty="0"/>
          </a:p>
        </p:txBody>
      </p:sp>
      <p:sp>
        <p:nvSpPr>
          <p:cNvPr id="30" name="Text 20"/>
          <p:cNvSpPr/>
          <p:nvPr/>
        </p:nvSpPr>
        <p:spPr>
          <a:xfrm>
            <a:off x="731520" y="5989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IngredientIQ — Team Demo</dc:title>
  <dc:subject>PptxGenJS Presentation</dc:subject>
  <dc:creator>IngredientIQ</dc:creator>
  <cp:lastModifiedBy>IngredientIQ</cp:lastModifiedBy>
  <cp:revision>1</cp:revision>
  <dcterms:created xsi:type="dcterms:W3CDTF">2026-07-10T22:20:39Z</dcterms:created>
  <dcterms:modified xsi:type="dcterms:W3CDTF">2026-07-10T22:20:39Z</dcterms:modified>
</cp:coreProperties>
</file>